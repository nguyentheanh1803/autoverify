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" y="274320"/>
            <a:ext cx="246888" cy="24688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Up-Down Arrow 2"/>
          <p:cNvSpPr/>
          <p:nvPr/>
        </p:nvSpPr>
        <p:spPr>
          <a:xfrm>
            <a:off x="589605" y="333573"/>
            <a:ext cx="128381" cy="128381"/>
          </a:xfrm>
          <a:prstGeom prst="up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292608"/>
            <a:ext cx="320040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01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0789920" cy="27432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"/>
              </a:rPr>
              <a:t>AutoVerify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59536"/>
            <a:ext cx="10972800" cy="201168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Nền tảng xác minh Overkill và Leakage cho vận hành chất lượng sản xuất.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143000"/>
            <a:ext cx="1110996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" y="1481328"/>
            <a:ext cx="2670048" cy="1261872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694944" y="1636776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ear 6 9"/>
          <p:cNvSpPr/>
          <p:nvPr/>
        </p:nvSpPr>
        <p:spPr>
          <a:xfrm>
            <a:off x="767364" y="1709196"/>
            <a:ext cx="156911" cy="156911"/>
          </a:xfrm>
          <a:prstGeom prst="gear6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655064"/>
            <a:ext cx="1956815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Arial"/>
              </a:rPr>
              <a:t>Overkill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66544"/>
            <a:ext cx="2304288" cy="566927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False alarm: station judge N / NG / N/A nhưng không có defect thật.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1481328"/>
            <a:ext cx="2670048" cy="1261872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3483864" y="1636776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3556284" y="1709196"/>
            <a:ext cx="156911" cy="156911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7911" y="1655064"/>
            <a:ext cx="1956815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2066544"/>
            <a:ext cx="2304288" cy="566927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Escape risk: judge G / OK nhưng có defect Critical/Major.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8192" y="1481328"/>
            <a:ext cx="2670048" cy="126187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6272783" y="1636776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n 19"/>
          <p:cNvSpPr/>
          <p:nvPr/>
        </p:nvSpPr>
        <p:spPr>
          <a:xfrm>
            <a:off x="6345204" y="1709196"/>
            <a:ext cx="156911" cy="156911"/>
          </a:xfrm>
          <a:prstGeom prst="ca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1" y="1655064"/>
            <a:ext cx="1956815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MariaDB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066544"/>
            <a:ext cx="2304288" cy="566927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Connection theo Machine/Line, query profile và pipeline mapping.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97112" y="1481328"/>
            <a:ext cx="2670048" cy="1261872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9061704" y="1636776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loud 24"/>
          <p:cNvSpPr/>
          <p:nvPr/>
        </p:nvSpPr>
        <p:spPr>
          <a:xfrm>
            <a:off x="9134124" y="1709196"/>
            <a:ext cx="156911" cy="156911"/>
          </a:xfrm>
          <a:prstGeom prst="cloud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45752" y="1655064"/>
            <a:ext cx="1956815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Arial"/>
              </a:rP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2066544"/>
            <a:ext cx="2304288" cy="566927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SeaweedFS/local storage, feature JSON, images và audit trace.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3182112"/>
            <a:ext cx="3840480" cy="18288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rial"/>
              </a:rPr>
              <a:t>Kiến trúc ba lớp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3493008"/>
            <a:ext cx="3401568" cy="15087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694944" y="3648456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cument 30"/>
          <p:cNvSpPr/>
          <p:nvPr/>
        </p:nvSpPr>
        <p:spPr>
          <a:xfrm>
            <a:off x="767364" y="3720876"/>
            <a:ext cx="156911" cy="156911"/>
          </a:xfrm>
          <a:prstGeom prst="flowChartDocumen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" y="3666744"/>
            <a:ext cx="2688336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Operations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078224"/>
            <a:ext cx="3035808" cy="813815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React 19 + TypeScript</a:t>
            </a:r>
            <a:br/>
            <a:r>
              <a:t>Tabs, filters, pagination, drilldown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977639" y="4142232"/>
            <a:ext cx="25603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297680" y="3493008"/>
            <a:ext cx="3401568" cy="150876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4462272" y="3648456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ocument 36"/>
          <p:cNvSpPr/>
          <p:nvPr/>
        </p:nvSpPr>
        <p:spPr>
          <a:xfrm>
            <a:off x="4534692" y="3720876"/>
            <a:ext cx="156911" cy="156911"/>
          </a:xfrm>
          <a:prstGeom prst="flowChartDocumen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3666744"/>
            <a:ext cx="2688336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AutoVerify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4078224"/>
            <a:ext cx="3035808" cy="813815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ASP.NET Core</a:t>
            </a:r>
            <a:br/>
            <a:r>
              <a:t>Query engines, scheduler, EF Core, audit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7744968" y="4142232"/>
            <a:ext cx="25603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65008" y="3493008"/>
            <a:ext cx="3401568" cy="15087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42" name="Oval 41"/>
          <p:cNvSpPr/>
          <p:nvPr/>
        </p:nvSpPr>
        <p:spPr>
          <a:xfrm>
            <a:off x="8229600" y="3648456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loud 42"/>
          <p:cNvSpPr/>
          <p:nvPr/>
        </p:nvSpPr>
        <p:spPr>
          <a:xfrm>
            <a:off x="8302020" y="3720876"/>
            <a:ext cx="156911" cy="156911"/>
          </a:xfrm>
          <a:prstGeom prst="cloud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13648" y="3666744"/>
            <a:ext cx="2688336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Arial"/>
              </a:rPr>
              <a:t>Data &amp; compute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4078224"/>
            <a:ext cx="3035808" cy="813815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MariaDB · SeaweedFS</a:t>
            </a:r>
            <a:br/>
            <a:r>
              <a:t>C++ engine tách độc lập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" y="5321808"/>
            <a:ext cx="11018520" cy="56692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ctr"/>
            <a:r>
              <a:rPr sz="1000" b="1">
                <a:solidFill>
                  <a:srgbClr val="0F172A"/>
                </a:solidFill>
                <a:latin typeface="Arial"/>
              </a:rPr>
              <a:t>Frontend chỉ phụ thuộc HTTP contracts; Backend làm chủ orchestration, MariaDB metadata, storage và audit.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6537960"/>
            <a:ext cx="6400800" cy="13716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AutoVerify System · Báo cáo dự án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6537960"/>
            <a:ext cx="502920" cy="13716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" y="274320"/>
            <a:ext cx="246888" cy="24688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ear 6 2"/>
          <p:cNvSpPr/>
          <p:nvPr/>
        </p:nvSpPr>
        <p:spPr>
          <a:xfrm>
            <a:off x="589605" y="333573"/>
            <a:ext cx="128381" cy="128381"/>
          </a:xfrm>
          <a:prstGeom prst="gear6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292608"/>
            <a:ext cx="320040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02 · OVERKILL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0789920" cy="27432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"/>
              </a:rPr>
              <a:t>Pipeline tự động và phân tích Overkill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59536"/>
            <a:ext cx="10972800" cy="201168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Ưu tiên giảm false alarm, re-inspection và scrap không cần thiết.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143000"/>
            <a:ext cx="1110996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" y="1508760"/>
            <a:ext cx="2450592" cy="126187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694944" y="1664207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67364" y="1736628"/>
            <a:ext cx="156911" cy="156911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682495"/>
            <a:ext cx="173736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Schedule / 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93976"/>
            <a:ext cx="2084832" cy="566927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2–3h hoặc trigger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44952" y="2075688"/>
            <a:ext cx="25603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64992" y="1508760"/>
            <a:ext cx="2450592" cy="1261872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3529584" y="1664207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n 15"/>
          <p:cNvSpPr/>
          <p:nvPr/>
        </p:nvSpPr>
        <p:spPr>
          <a:xfrm>
            <a:off x="3602004" y="1736628"/>
            <a:ext cx="156911" cy="156911"/>
          </a:xfrm>
          <a:prstGeom prst="ca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1682495"/>
            <a:ext cx="173736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Product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093976"/>
            <a:ext cx="2084832" cy="566927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Judge IN N, NG, N/A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79592" y="2075688"/>
            <a:ext cx="25603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9632" y="1508760"/>
            <a:ext cx="2450592" cy="1261872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6364224" y="1664207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Up-Down Arrow 21"/>
          <p:cNvSpPr/>
          <p:nvPr/>
        </p:nvSpPr>
        <p:spPr>
          <a:xfrm>
            <a:off x="6436644" y="1736628"/>
            <a:ext cx="156911" cy="156911"/>
          </a:xfrm>
          <a:prstGeom prst="upDown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1682495"/>
            <a:ext cx="173736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Arial"/>
              </a:rPr>
              <a:t>Defect deep 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093976"/>
            <a:ext cx="2084832" cy="566927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AOI · AI · SPI</a:t>
            </a:r>
            <a:br/>
            <a:r>
              <a:t>Chunk Fk_ID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14232" y="2075688"/>
            <a:ext cx="25603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34272" y="1508760"/>
            <a:ext cx="2450592" cy="1261872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27" name="Oval 26"/>
          <p:cNvSpPr/>
          <p:nvPr/>
        </p:nvSpPr>
        <p:spPr>
          <a:xfrm>
            <a:off x="9198864" y="1664207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loud 27"/>
          <p:cNvSpPr/>
          <p:nvPr/>
        </p:nvSpPr>
        <p:spPr>
          <a:xfrm>
            <a:off x="9271284" y="1736628"/>
            <a:ext cx="156911" cy="156911"/>
          </a:xfrm>
          <a:prstGeom prst="cloud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2" y="1682495"/>
            <a:ext cx="173736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Arial"/>
              </a:rPr>
              <a:t>Persist &amp; 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2093976"/>
            <a:ext cx="2084832" cy="566927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Overkill hoặc</a:t>
            </a:r>
            <a:br/>
            <a:r>
              <a:t>ConsistentNG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3127248"/>
            <a:ext cx="3749039" cy="2340864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3337560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Up-Down Arrow 32"/>
          <p:cNvSpPr/>
          <p:nvPr/>
        </p:nvSpPr>
        <p:spPr>
          <a:xfrm>
            <a:off x="810524" y="3416564"/>
            <a:ext cx="171175" cy="171175"/>
          </a:xfrm>
          <a:prstGeom prst="up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0432" y="3355848"/>
            <a:ext cx="256032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rial"/>
              </a:rPr>
              <a:t>Overkill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3749039"/>
            <a:ext cx="3154680" cy="1234440"/>
          </a:xfrm>
          <a:prstGeom prst="rect">
            <a:avLst/>
          </a:prstGeom>
          <a:noFill/>
        </p:spPr>
        <p:txBody>
          <a:bodyPr wrap="none" lIns="73152" rIns="54864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Filter Machine/Line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Min NG share: 0/30/50/70%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Tách hệ AOI / AI / SPI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Preview candidate và Key 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53712" y="3127248"/>
            <a:ext cx="6995160" cy="23408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355848"/>
            <a:ext cx="384048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rial"/>
              </a:rPr>
              <a:t>Ví dụ: NG share theo defect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3168" y="3822191"/>
            <a:ext cx="502920" cy="146304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Arial"/>
              </a:rPr>
              <a:t>AOI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49240" y="3822191"/>
            <a:ext cx="4224528" cy="17373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349240" y="3822191"/>
            <a:ext cx="3210641" cy="17373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10928" y="3803904"/>
            <a:ext cx="566928" cy="146304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r"/>
            <a:r>
              <a:rPr sz="900" b="1">
                <a:solidFill>
                  <a:srgbClr val="D97706"/>
                </a:solidFill>
                <a:latin typeface="Arial"/>
              </a:rPr>
              <a:t>76%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73168" y="4261104"/>
            <a:ext cx="502920" cy="146304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Arial"/>
              </a:rPr>
              <a:t>AI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49240" y="4261104"/>
            <a:ext cx="4224528" cy="17373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349240" y="4261104"/>
            <a:ext cx="2450226" cy="17373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10928" y="4242816"/>
            <a:ext cx="566928" cy="146304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58%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73168" y="4700016"/>
            <a:ext cx="502920" cy="146304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Arial"/>
              </a:rPr>
              <a:t>SPI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49240" y="4700016"/>
            <a:ext cx="4224528" cy="17373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349240" y="4700016"/>
            <a:ext cx="1732056" cy="17373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10928" y="4681728"/>
            <a:ext cx="566928" cy="146304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r"/>
            <a:r>
              <a:rPr sz="900" b="1">
                <a:solidFill>
                  <a:srgbClr val="2563EB"/>
                </a:solidFill>
                <a:latin typeface="Arial"/>
              </a:rPr>
              <a:t>41%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73168" y="5074920"/>
            <a:ext cx="6355080" cy="18288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Guidance: AOI (lighting/contrast), AI (probability/class weights), SPI (paste volume/recipe).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" y="6537960"/>
            <a:ext cx="6400800" cy="13716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AutoVerify System · Báo cáo dự án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18520" y="6537960"/>
            <a:ext cx="502920" cy="13716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" y="274320"/>
            <a:ext cx="246888" cy="24688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Arrow 2"/>
          <p:cNvSpPr/>
          <p:nvPr/>
        </p:nvSpPr>
        <p:spPr>
          <a:xfrm>
            <a:off x="589605" y="333573"/>
            <a:ext cx="128381" cy="128381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292608"/>
            <a:ext cx="320040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03 ·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0789920" cy="27432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"/>
              </a:rPr>
              <a:t>Manual queue cho Leakage và mô hình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59536"/>
            <a:ext cx="10972800" cy="201168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Quy trình on-demand để kiểm tra sản phẩm nghi ngờ escape risk từ line, customer return hoặc audit.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143000"/>
            <a:ext cx="1110996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" y="1481328"/>
            <a:ext cx="2450592" cy="12344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694944" y="1636776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cument 9"/>
          <p:cNvSpPr/>
          <p:nvPr/>
        </p:nvSpPr>
        <p:spPr>
          <a:xfrm>
            <a:off x="767364" y="1709196"/>
            <a:ext cx="156911" cy="156911"/>
          </a:xfrm>
          <a:prstGeom prst="flowChartDocumen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655064"/>
            <a:ext cx="173736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Paste /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66544"/>
            <a:ext cx="2084832" cy="539496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ID + optional Line</a:t>
            </a:r>
            <a:br/>
            <a:r>
              <a:t>+ Mapping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44952" y="2048256"/>
            <a:ext cx="25603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64992" y="1481328"/>
            <a:ext cx="2450592" cy="123444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3529584" y="1636776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3602004" y="1709196"/>
            <a:ext cx="156911" cy="156911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1655064"/>
            <a:ext cx="173736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Batch 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066544"/>
            <a:ext cx="2084832" cy="539496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Persist Pending</a:t>
            </a:r>
            <a:br/>
            <a:r>
              <a:t>Batch &amp; Queue Items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79592" y="2048256"/>
            <a:ext cx="25603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9632" y="1481328"/>
            <a:ext cx="2450592" cy="12344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6364224" y="1636776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n 21"/>
          <p:cNvSpPr/>
          <p:nvPr/>
        </p:nvSpPr>
        <p:spPr>
          <a:xfrm>
            <a:off x="6436644" y="1709196"/>
            <a:ext cx="156911" cy="156911"/>
          </a:xfrm>
          <a:prstGeom prst="ca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1655064"/>
            <a:ext cx="173736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Arial"/>
              </a:rPr>
              <a:t>Resolve MariaDB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066544"/>
            <a:ext cx="2084832" cy="539496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Theo Line hoặc</a:t>
            </a:r>
            <a:br/>
            <a:r>
              <a:t>full-scan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14232" y="2048256"/>
            <a:ext cx="25603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34272" y="1481328"/>
            <a:ext cx="2450592" cy="123444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27" name="Oval 26"/>
          <p:cNvSpPr/>
          <p:nvPr/>
        </p:nvSpPr>
        <p:spPr>
          <a:xfrm>
            <a:off x="9198864" y="1636776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Up-Down Arrow 27"/>
          <p:cNvSpPr/>
          <p:nvPr/>
        </p:nvSpPr>
        <p:spPr>
          <a:xfrm>
            <a:off x="9271284" y="1709196"/>
            <a:ext cx="156911" cy="156911"/>
          </a:xfrm>
          <a:prstGeom prst="upDown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2" y="1655064"/>
            <a:ext cx="173736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Leakage 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2066544"/>
            <a:ext cx="2084832" cy="539496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G/OK + Critical/Major</a:t>
            </a:r>
            <a:br/>
            <a:r>
              <a:t>= Escape Risk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3310128"/>
            <a:ext cx="5166360" cy="89611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694944" y="3465576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an 32"/>
          <p:cNvSpPr/>
          <p:nvPr/>
        </p:nvSpPr>
        <p:spPr>
          <a:xfrm>
            <a:off x="767364" y="3537996"/>
            <a:ext cx="156911" cy="156911"/>
          </a:xfrm>
          <a:prstGeom prst="ca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3483864"/>
            <a:ext cx="4453128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Connection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3895344"/>
            <a:ext cx="4800600" cy="201167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Host · DB · encrypted secret</a:t>
            </a:r>
            <a:br/>
            <a:r>
              <a:t>Machine · 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9904" y="3310128"/>
            <a:ext cx="5166360" cy="896112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6254496" y="3465576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ocument 37"/>
          <p:cNvSpPr/>
          <p:nvPr/>
        </p:nvSpPr>
        <p:spPr>
          <a:xfrm>
            <a:off x="6326916" y="3537996"/>
            <a:ext cx="156911" cy="156911"/>
          </a:xfrm>
          <a:prstGeom prst="flowChartDocumen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38544" y="3483864"/>
            <a:ext cx="4453128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Pipeline Config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3895344"/>
            <a:ext cx="4800600" cy="201167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Schema · judge filter</a:t>
            </a:r>
            <a:br/>
            <a:r>
              <a:t>defect mappings · schedule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" y="4425696"/>
            <a:ext cx="5166360" cy="896112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42" name="Oval 41"/>
          <p:cNvSpPr/>
          <p:nvPr/>
        </p:nvSpPr>
        <p:spPr>
          <a:xfrm>
            <a:off x="694944" y="4581144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Up-Down Arrow 42"/>
          <p:cNvSpPr/>
          <p:nvPr/>
        </p:nvSpPr>
        <p:spPr>
          <a:xfrm>
            <a:off x="767364" y="4653564"/>
            <a:ext cx="156911" cy="156911"/>
          </a:xfrm>
          <a:prstGeom prst="upDown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8992" y="4599432"/>
            <a:ext cx="4453128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Arial"/>
              </a:rPr>
              <a:t>Product / Defect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5010912"/>
            <a:ext cx="4800600" cy="201167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KeyId · FkId · severity</a:t>
            </a:r>
            <a:br/>
            <a:r>
              <a:t>features · images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9904" y="4425696"/>
            <a:ext cx="5166360" cy="896112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47" name="Oval 46"/>
          <p:cNvSpPr/>
          <p:nvPr/>
        </p:nvSpPr>
        <p:spPr>
          <a:xfrm>
            <a:off x="6254496" y="4581144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loud 47"/>
          <p:cNvSpPr/>
          <p:nvPr/>
        </p:nvSpPr>
        <p:spPr>
          <a:xfrm>
            <a:off x="6326916" y="4653564"/>
            <a:ext cx="156911" cy="156911"/>
          </a:xfrm>
          <a:prstGeom prst="cloud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38544" y="4599432"/>
            <a:ext cx="4453128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Arial"/>
              </a:rPr>
              <a:t>History / Audit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2784" y="5010912"/>
            <a:ext cx="4800600" cy="201167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Batch · status · analysis</a:t>
            </a:r>
            <a:br/>
            <a:r>
              <a:t>result trace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" y="6537960"/>
            <a:ext cx="6400800" cy="13716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AutoVerify System · Báo cáo dự án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18520" y="6537960"/>
            <a:ext cx="502920" cy="13716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" y="274320"/>
            <a:ext cx="246888" cy="24688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cument 2"/>
          <p:cNvSpPr/>
          <p:nvPr/>
        </p:nvSpPr>
        <p:spPr>
          <a:xfrm>
            <a:off x="589605" y="333573"/>
            <a:ext cx="128381" cy="128381"/>
          </a:xfrm>
          <a:prstGeom prst="flowChartDocumen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292608"/>
            <a:ext cx="320040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04 ·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0789920" cy="27432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"/>
              </a:rPr>
              <a:t>Giao diện vận hành và quản trị query an toàn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59536"/>
            <a:ext cx="10972800" cy="201168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Nhóm navigation theo nghiệp vụ, tách nhiệm vụ vận hành/chất lượng/cấu hình để giảm thao tác phân mảnh.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143000"/>
            <a:ext cx="1110996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" y="1508760"/>
            <a:ext cx="2450592" cy="13258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694944" y="1664207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p-Down Arrow 9"/>
          <p:cNvSpPr/>
          <p:nvPr/>
        </p:nvSpPr>
        <p:spPr>
          <a:xfrm>
            <a:off x="767364" y="1736628"/>
            <a:ext cx="156911" cy="156911"/>
          </a:xfrm>
          <a:prstGeom prst="up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682495"/>
            <a:ext cx="173736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93976"/>
            <a:ext cx="2084832" cy="630936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KPI · Trends · Health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508760"/>
            <a:ext cx="2450592" cy="132588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3511296" y="1664207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3583716" y="1736628"/>
            <a:ext cx="156911" cy="156911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5344" y="1682495"/>
            <a:ext cx="173736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093976"/>
            <a:ext cx="2084832" cy="630936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Overkill Ops · Leakage Ops</a:t>
            </a:r>
            <a:br/>
            <a:r>
              <a:t>Executions ·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508760"/>
            <a:ext cx="2450592" cy="132588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6327648" y="1664207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-Down Arrow 19"/>
          <p:cNvSpPr/>
          <p:nvPr/>
        </p:nvSpPr>
        <p:spPr>
          <a:xfrm>
            <a:off x="6400068" y="1736628"/>
            <a:ext cx="156911" cy="156911"/>
          </a:xfrm>
          <a:prstGeom prst="upDown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1696" y="1682495"/>
            <a:ext cx="173736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Arial"/>
              </a:rPr>
              <a:t>Products &amp;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093976"/>
            <a:ext cx="2084832" cy="630936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Products · Defects</a:t>
            </a:r>
            <a:br/>
            <a:r>
              <a:t>Overkill Analytics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9408" y="1508760"/>
            <a:ext cx="2450592" cy="13258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9144000" y="1664207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loud 24"/>
          <p:cNvSpPr/>
          <p:nvPr/>
        </p:nvSpPr>
        <p:spPr>
          <a:xfrm>
            <a:off x="9216420" y="1736628"/>
            <a:ext cx="156911" cy="156911"/>
          </a:xfrm>
          <a:prstGeom prst="cloud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8048" y="1682495"/>
            <a:ext cx="173736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Arial"/>
              </a:rPr>
              <a:t>Configuration &amp;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093976"/>
            <a:ext cx="2084832" cy="630936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Connections · Queries</a:t>
            </a:r>
            <a:br/>
            <a:r>
              <a:t>Storage · Audit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3182112"/>
            <a:ext cx="5394960" cy="203911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340156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n 29"/>
          <p:cNvSpPr/>
          <p:nvPr/>
        </p:nvSpPr>
        <p:spPr>
          <a:xfrm>
            <a:off x="810524" y="3480572"/>
            <a:ext cx="171175" cy="171175"/>
          </a:xfrm>
          <a:prstGeom prst="ca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0432" y="3419856"/>
            <a:ext cx="347472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Connection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776472"/>
            <a:ext cx="4800600" cy="1024128"/>
          </a:xfrm>
          <a:prstGeom prst="rect">
            <a:avLst/>
          </a:prstGeom>
          <a:noFill/>
        </p:spPr>
        <p:txBody>
          <a:bodyPr wrap="none" lIns="73152" rIns="54864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Machine/Line tự gán theo connection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Password encrypt bằng Data Protection / DPAPI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Health/latency test và query profile bound vào MariaDB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3912" y="3182112"/>
            <a:ext cx="5394960" cy="2039112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6355080" y="340156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6434084" y="3480572"/>
            <a:ext cx="171175" cy="171175"/>
          </a:xfrm>
          <a:prstGeom prst="hexago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93992" y="3419856"/>
            <a:ext cx="338328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Safe SQL execution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3776472"/>
            <a:ext cx="4800600" cy="1024128"/>
          </a:xfrm>
          <a:prstGeom prst="rect">
            <a:avLst/>
          </a:prstGeom>
          <a:noFill/>
        </p:spPr>
        <p:txBody>
          <a:bodyPr wrap="none" lIns="73152" rIns="54864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Chỉ SELECT/WITH; block DML/DDL destructive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{{parameter}} render thành parameterized query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Giới hạn timeout, max concurrency và test query preview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" y="5532120"/>
            <a:ext cx="11018520" cy="457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ctr"/>
            <a:r>
              <a:rPr sz="1000" b="1">
                <a:solidFill>
                  <a:srgbClr val="0F172A"/>
                </a:solidFill>
                <a:latin typeface="Arial"/>
              </a:rPr>
              <a:t>Data grids có pagination; modal drilldown hỗ trợ xem defect JSON và evidence mà không làm overload giao diện.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6537960"/>
            <a:ext cx="6400800" cy="13716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AutoVerify System · Báo cáo dự án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18520" y="6537960"/>
            <a:ext cx="502920" cy="13716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" y="274320"/>
            <a:ext cx="246888" cy="24688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589605" y="333573"/>
            <a:ext cx="128381" cy="128381"/>
          </a:xfrm>
          <a:prstGeom prst="clou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292608"/>
            <a:ext cx="320040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05 ·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0789920" cy="27432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"/>
              </a:rPr>
              <a:t>Evidence, API surface và triển khai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59536"/>
            <a:ext cx="10972800" cy="201168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Mọi hành động vận hành có dấu vết cấu hình, kết quả và bằng chứng để phục vụ investigation.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143000"/>
            <a:ext cx="1110996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" y="1490472"/>
            <a:ext cx="2450592" cy="1143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694944" y="1645919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cument 9"/>
          <p:cNvSpPr/>
          <p:nvPr/>
        </p:nvSpPr>
        <p:spPr>
          <a:xfrm>
            <a:off x="767364" y="1718340"/>
            <a:ext cx="156911" cy="156911"/>
          </a:xfrm>
          <a:prstGeom prst="flowChartDocumen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664207"/>
            <a:ext cx="173736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75688"/>
            <a:ext cx="2084832" cy="448056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Paste / CSV / Scheduler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44952" y="1984248"/>
            <a:ext cx="25603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64992" y="1490472"/>
            <a:ext cx="2450592" cy="1143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3529584" y="1645919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n 15"/>
          <p:cNvSpPr/>
          <p:nvPr/>
        </p:nvSpPr>
        <p:spPr>
          <a:xfrm>
            <a:off x="3602004" y="1718340"/>
            <a:ext cx="156911" cy="156911"/>
          </a:xfrm>
          <a:prstGeom prst="ca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1664207"/>
            <a:ext cx="173736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075688"/>
            <a:ext cx="2084832" cy="448056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Connection + pipeline config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79592" y="1984248"/>
            <a:ext cx="25603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9632" y="1490472"/>
            <a:ext cx="2450592" cy="11430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6364224" y="1645919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loud 21"/>
          <p:cNvSpPr/>
          <p:nvPr/>
        </p:nvSpPr>
        <p:spPr>
          <a:xfrm>
            <a:off x="6436644" y="1718340"/>
            <a:ext cx="156911" cy="156911"/>
          </a:xfrm>
          <a:prstGeom prst="cloud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1664207"/>
            <a:ext cx="173736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075688"/>
            <a:ext cx="2084832" cy="448056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Feature JSON / images</a:t>
            </a:r>
            <a:br/>
            <a:r>
              <a:t>object storage path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14232" y="1984248"/>
            <a:ext cx="256032" cy="20116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34272" y="1490472"/>
            <a:ext cx="2450592" cy="11430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27" name="Oval 26"/>
          <p:cNvSpPr/>
          <p:nvPr/>
        </p:nvSpPr>
        <p:spPr>
          <a:xfrm>
            <a:off x="9198864" y="1645919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9271284" y="1718340"/>
            <a:ext cx="156911" cy="156911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2" y="1664207"/>
            <a:ext cx="173736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Arial"/>
              </a:rPr>
              <a:t>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2075688"/>
            <a:ext cx="2084832" cy="448056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History + audit +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3090672"/>
            <a:ext cx="3337560" cy="129844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694944" y="3246120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Gear 6 32"/>
          <p:cNvSpPr/>
          <p:nvPr/>
        </p:nvSpPr>
        <p:spPr>
          <a:xfrm>
            <a:off x="767364" y="3318540"/>
            <a:ext cx="156911" cy="156911"/>
          </a:xfrm>
          <a:prstGeom prst="gear6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3264408"/>
            <a:ext cx="2624328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Overkill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3675887"/>
            <a:ext cx="2971800" cy="603503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configs · run · test mapping</a:t>
            </a:r>
            <a:br/>
            <a:r>
              <a:t>executions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79392" y="3090672"/>
            <a:ext cx="3337560" cy="129844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37" name="Oval 36"/>
          <p:cNvSpPr/>
          <p:nvPr/>
        </p:nvSpPr>
        <p:spPr>
          <a:xfrm>
            <a:off x="4443983" y="3246120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4516404" y="3318540"/>
            <a:ext cx="156911" cy="156911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28031" y="3264408"/>
            <a:ext cx="2624328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Leakage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2272" y="3675887"/>
            <a:ext cx="2971800" cy="603503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paste · upload CSV · process</a:t>
            </a:r>
            <a:br/>
            <a:r>
              <a:t>paged queue items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28431" y="3090672"/>
            <a:ext cx="3337560" cy="1298448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42" name="Oval 41"/>
          <p:cNvSpPr/>
          <p:nvPr/>
        </p:nvSpPr>
        <p:spPr>
          <a:xfrm>
            <a:off x="8193023" y="3246120"/>
            <a:ext cx="301752" cy="3017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ocument 42"/>
          <p:cNvSpPr/>
          <p:nvPr/>
        </p:nvSpPr>
        <p:spPr>
          <a:xfrm>
            <a:off x="8265444" y="3318540"/>
            <a:ext cx="156911" cy="156911"/>
          </a:xfrm>
          <a:prstGeom prst="flowChartDocumen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77072" y="3264408"/>
            <a:ext cx="2624328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Arial"/>
              </a:rPr>
              <a:t>Ops &amp;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1" y="3675887"/>
            <a:ext cx="2971800" cy="603503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Arial"/>
              </a:rPr>
              <a:t>import preview · scan execution</a:t>
            </a:r>
            <a:br/>
            <a:r>
              <a:t>history · storage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" y="4791456"/>
            <a:ext cx="11018520" cy="804672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SeaweedFS lưu JSON/ảnh defect; khi chưa cấu hình, hệ thống fallback local filesystem. API có thể embed frontend vào wwwroot để chạy 1 package.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6537960"/>
            <a:ext cx="6400800" cy="13716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AutoVerify System · Báo cáo dự án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6537960"/>
            <a:ext cx="502920" cy="13716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" y="274320"/>
            <a:ext cx="246888" cy="246888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Arrow 2"/>
          <p:cNvSpPr/>
          <p:nvPr/>
        </p:nvSpPr>
        <p:spPr>
          <a:xfrm>
            <a:off x="589605" y="333573"/>
            <a:ext cx="128381" cy="128381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292608"/>
            <a:ext cx="320040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rial"/>
              </a:rPr>
              <a:t>06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30352"/>
            <a:ext cx="10789920" cy="27432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"/>
              </a:rPr>
              <a:t>Trạng thái triển khai và bước tiếp theo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59536"/>
            <a:ext cx="10972800" cy="201168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MVP đã có nền tảng pipeline/UI; giai đoạn tiếp theo ưu tiên data production, quality tuning và hardening.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143000"/>
            <a:ext cx="1110996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" y="1554480"/>
            <a:ext cx="3401568" cy="38404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731519" y="1773936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p-Down Arrow 9"/>
          <p:cNvSpPr/>
          <p:nvPr/>
        </p:nvSpPr>
        <p:spPr>
          <a:xfrm>
            <a:off x="810524" y="1852940"/>
            <a:ext cx="171175" cy="171175"/>
          </a:xfrm>
          <a:prstGeom prst="upDown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1" y="1801368"/>
            <a:ext cx="228600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Arial"/>
              </a:rPr>
              <a:t>01  Implemented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86000"/>
            <a:ext cx="2834640" cy="2542032"/>
          </a:xfrm>
          <a:prstGeom prst="rect">
            <a:avLst/>
          </a:prstGeom>
          <a:noFill/>
        </p:spPr>
        <p:txBody>
          <a:bodyPr wrap="none" lIns="73152" rIns="54864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React operations UI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MariaDB connections + safe SQL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Overkill scheduler/manual run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Leakage batch/queue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History, audit, evidence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554480"/>
            <a:ext cx="3401568" cy="38404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4462272" y="1773936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Up-Down Arrow 14"/>
          <p:cNvSpPr/>
          <p:nvPr/>
        </p:nvSpPr>
        <p:spPr>
          <a:xfrm>
            <a:off x="4541276" y="1852940"/>
            <a:ext cx="171175" cy="171175"/>
          </a:xfrm>
          <a:prstGeom prst="up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01184" y="1801368"/>
            <a:ext cx="228600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02  Pilot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86000"/>
            <a:ext cx="2834640" cy="2542032"/>
          </a:xfrm>
          <a:prstGeom prst="rect">
            <a:avLst/>
          </a:prstGeom>
          <a:noFill/>
        </p:spPr>
        <p:txBody>
          <a:bodyPr wrap="none" lIns="73152" rIns="54864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Bind MariaDB production schema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Validate AOI/AI/SPI mappings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Run one-line Overkill pilot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Tune anomaly thresholds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Review leakage queue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1554480"/>
            <a:ext cx="3401568" cy="384048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l"/>
            <a:r>
              <a:rPr sz="900" b="0">
                <a:solidFill>
                  <a:srgbClr val="0F172A"/>
                </a:solidFill>
                <a:latin typeface="Arial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8193024" y="1773936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8272028" y="1852940"/>
            <a:ext cx="171175" cy="171175"/>
          </a:xfrm>
          <a:prstGeom prst="hexag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1936" y="1801368"/>
            <a:ext cx="2286000" cy="164592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Arial"/>
              </a:rPr>
              <a:t>03 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286000"/>
            <a:ext cx="2834640" cy="2542032"/>
          </a:xfrm>
          <a:prstGeom prst="rect">
            <a:avLst/>
          </a:prstGeom>
          <a:noFill/>
        </p:spPr>
        <p:txBody>
          <a:bodyPr wrap="none" lIns="73152" rIns="54864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Secrets vault / RBAC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Metrics + alerting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Retention policy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Load/performance testing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  <a:latin typeface="Arial"/>
              </a:defRPr>
            </a:pPr>
            <a:r>
              <a:t>Release/rollback procedure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5715000"/>
            <a:ext cx="11018520" cy="43891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36576"/>
          <a:lstStyle/>
          <a:p>
            <a:pPr algn="ctr"/>
            <a:r>
              <a:rPr sz="1000" b="1">
                <a:solidFill>
                  <a:srgbClr val="0F172A"/>
                </a:solidFill>
                <a:latin typeface="Arial"/>
              </a:rPr>
              <a:t>Đề xuất gần nhất: cấu hình 1 production connection + test mapping AOI/AI/SPI + chạy pilot Overkill trên 1 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37960"/>
            <a:ext cx="6400800" cy="13716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AutoVerify System · Báo cáo dự án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537960"/>
            <a:ext cx="502920" cy="137160"/>
          </a:xfrm>
          <a:prstGeom prst="rect">
            <a:avLst/>
          </a:prstGeom>
          <a:noFill/>
        </p:spPr>
        <p:txBody>
          <a:bodyPr wrap="none" bIns="36576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